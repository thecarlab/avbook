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Helvetica Neue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kPoKI6G6/DkRYEB64nBELS99I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bad65a17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7bad65a1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7bad65a17d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227f09822_0_2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227f09822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a227f09822_0_2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227f09822_0_2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227f09822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a227f09822_0_2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227f09822_0_3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227f09822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a227f09822_0_30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227f0982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227f098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a227f09822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>
            <p:ph type="title"/>
          </p:nvPr>
        </p:nvSpPr>
        <p:spPr>
          <a:xfrm>
            <a:off x="457200" y="52849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" type="body"/>
          </p:nvPr>
        </p:nvSpPr>
        <p:spPr>
          <a:xfrm>
            <a:off x="457200" y="1543050"/>
            <a:ext cx="8229600" cy="265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»"/>
              <a:defRPr>
                <a:solidFill>
                  <a:srgbClr val="006096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6" title="CARLab-logo-25-removebg-preview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7125" y="0"/>
            <a:ext cx="396875" cy="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91440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4" name="Google Shape;24;p7" title="CARLab-logo-25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125" y="0"/>
            <a:ext cx="396875" cy="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722313" y="2477691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 cap="none">
                <a:solidFill>
                  <a:srgbClr val="00609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" type="body"/>
          </p:nvPr>
        </p:nvSpPr>
        <p:spPr>
          <a:xfrm>
            <a:off x="722313" y="1352550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8" title="CARLab-logo-25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125" y="0"/>
            <a:ext cx="396875" cy="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457200" y="5143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457200" y="1085851"/>
            <a:ext cx="4038600" cy="3108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4648200" y="1085851"/>
            <a:ext cx="4038600" cy="3108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9" title="CARLab-logo-25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125" y="0"/>
            <a:ext cx="396875" cy="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457200" y="514350"/>
            <a:ext cx="4040188" cy="7739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10"/>
          <p:cNvSpPr txBox="1"/>
          <p:nvPr>
            <p:ph idx="2" type="body"/>
          </p:nvPr>
        </p:nvSpPr>
        <p:spPr>
          <a:xfrm>
            <a:off x="457200" y="1288255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9" name="Google Shape;39;p10"/>
          <p:cNvSpPr txBox="1"/>
          <p:nvPr>
            <p:ph idx="3" type="body"/>
          </p:nvPr>
        </p:nvSpPr>
        <p:spPr>
          <a:xfrm>
            <a:off x="4645026" y="514350"/>
            <a:ext cx="4041775" cy="7739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0"/>
          <p:cNvSpPr txBox="1"/>
          <p:nvPr>
            <p:ph idx="4" type="body"/>
          </p:nvPr>
        </p:nvSpPr>
        <p:spPr>
          <a:xfrm>
            <a:off x="4645026" y="1288255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" name="Google Shape;42;p10" title="CARLab-logo-25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125" y="0"/>
            <a:ext cx="396875" cy="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title"/>
          </p:nvPr>
        </p:nvSpPr>
        <p:spPr>
          <a:xfrm>
            <a:off x="457200" y="5143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11" title="CARLab-logo-25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125" y="0"/>
            <a:ext cx="396875" cy="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32766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" name="Google Shape;49;p12" title="CARLab-logo-25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125" y="0"/>
            <a:ext cx="396875" cy="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1" y="438150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rgbClr val="00609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575050" y="438151"/>
            <a:ext cx="511175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7201" y="1428750"/>
            <a:ext cx="3008313" cy="266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6096"/>
              </a:buClr>
              <a:buSzPts val="1400"/>
              <a:buNone/>
              <a:defRPr sz="1400">
                <a:solidFill>
                  <a:srgbClr val="00609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3563998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13" title="CARLab-logo-25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125" y="0"/>
            <a:ext cx="396875" cy="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096000" y="459580"/>
            <a:ext cx="2514600" cy="6643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rgbClr val="00609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/>
          <p:nvPr>
            <p:ph idx="2" type="pic"/>
          </p:nvPr>
        </p:nvSpPr>
        <p:spPr>
          <a:xfrm>
            <a:off x="457200" y="459580"/>
            <a:ext cx="5486400" cy="3636169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6096000" y="1200150"/>
            <a:ext cx="25146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" name="Google Shape;61;p14" title="CARLab-logo-25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125" y="0"/>
            <a:ext cx="396875" cy="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4762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 rot="5400000">
            <a:off x="3246438" y="-1284287"/>
            <a:ext cx="26511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15" title="CARLab-logo-25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125" y="0"/>
            <a:ext cx="396875" cy="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 rot="5400000">
            <a:off x="5857724" y="1277143"/>
            <a:ext cx="357981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 rot="5400000">
            <a:off x="1677194" y="-704057"/>
            <a:ext cx="357981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33528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16" title="CARLab-logo-25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125" y="0"/>
            <a:ext cx="396875" cy="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457200" y="91440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457200" y="1943100"/>
            <a:ext cx="8229600" cy="265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qiao.github.io/PathFinding.js/visual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>
            <p:ph type="ctrTitle"/>
          </p:nvPr>
        </p:nvSpPr>
        <p:spPr>
          <a:xfrm>
            <a:off x="850850" y="138265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CISC 667 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Introduction to Autonomous Driving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"/>
          <p:cNvSpPr txBox="1"/>
          <p:nvPr>
            <p:ph type="ctrTitle"/>
          </p:nvPr>
        </p:nvSpPr>
        <p:spPr>
          <a:xfrm>
            <a:off x="850850" y="2859025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Lecture 8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Nov 10, 2025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bad65a17d_0_0"/>
          <p:cNvSpPr txBox="1"/>
          <p:nvPr>
            <p:ph type="title"/>
          </p:nvPr>
        </p:nvSpPr>
        <p:spPr>
          <a:xfrm>
            <a:off x="457200" y="52849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Today’s Outline</a:t>
            </a:r>
            <a:endParaRPr/>
          </a:p>
        </p:txBody>
      </p:sp>
      <p:sp>
        <p:nvSpPr>
          <p:cNvPr id="84" name="Google Shape;84;g37bad65a17d_0_0"/>
          <p:cNvSpPr txBox="1"/>
          <p:nvPr>
            <p:ph idx="1" type="body"/>
          </p:nvPr>
        </p:nvSpPr>
        <p:spPr>
          <a:xfrm>
            <a:off x="457200" y="1543050"/>
            <a:ext cx="8229600" cy="26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Planning Algorithms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Global Planning</a:t>
            </a:r>
            <a:endParaRPr/>
          </a:p>
        </p:txBody>
      </p:sp>
      <p:sp>
        <p:nvSpPr>
          <p:cNvPr id="85" name="Google Shape;85;g37bad65a17d_0_0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227f09822_0_284"/>
          <p:cNvSpPr txBox="1"/>
          <p:nvPr>
            <p:ph type="title"/>
          </p:nvPr>
        </p:nvSpPr>
        <p:spPr>
          <a:xfrm>
            <a:off x="457200" y="52849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Global Planning Algorithms</a:t>
            </a:r>
            <a:endParaRPr/>
          </a:p>
        </p:txBody>
      </p:sp>
      <p:sp>
        <p:nvSpPr>
          <p:cNvPr id="92" name="Google Shape;92;g3a227f09822_0_284"/>
          <p:cNvSpPr txBox="1"/>
          <p:nvPr>
            <p:ph idx="1" type="body"/>
          </p:nvPr>
        </p:nvSpPr>
        <p:spPr>
          <a:xfrm>
            <a:off x="457200" y="1543050"/>
            <a:ext cx="8229600" cy="265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Visualization: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https://qiao.github.io/PathFinding.js/visual/</a:t>
            </a:r>
            <a:r>
              <a:rPr lang="en-US"/>
              <a:t> </a:t>
            </a:r>
            <a:endParaRPr/>
          </a:p>
        </p:txBody>
      </p:sp>
      <p:sp>
        <p:nvSpPr>
          <p:cNvPr id="93" name="Google Shape;93;g3a227f09822_0_284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227f09822_0_297"/>
          <p:cNvSpPr txBox="1"/>
          <p:nvPr>
            <p:ph type="title"/>
          </p:nvPr>
        </p:nvSpPr>
        <p:spPr>
          <a:xfrm>
            <a:off x="457200" y="52849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Dijkstra’s Algorithm</a:t>
            </a:r>
            <a:endParaRPr/>
          </a:p>
        </p:txBody>
      </p:sp>
      <p:sp>
        <p:nvSpPr>
          <p:cNvPr id="100" name="Google Shape;100;g3a227f09822_0_297"/>
          <p:cNvSpPr txBox="1"/>
          <p:nvPr>
            <p:ph idx="1" type="body"/>
          </p:nvPr>
        </p:nvSpPr>
        <p:spPr>
          <a:xfrm>
            <a:off x="457200" y="1543050"/>
            <a:ext cx="8229600" cy="265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2"/>
                </a:solidFill>
              </a:rPr>
              <a:t>Goal:</a:t>
            </a:r>
            <a:r>
              <a:rPr lang="en-US" sz="1200">
                <a:solidFill>
                  <a:schemeClr val="dk2"/>
                </a:solidFill>
              </a:rPr>
              <a:t> Shortest path(s) from a start node on a graph with </a:t>
            </a:r>
            <a:r>
              <a:rPr b="1" lang="en-US" sz="1200">
                <a:solidFill>
                  <a:schemeClr val="dk2"/>
                </a:solidFill>
              </a:rPr>
              <a:t>non-negative</a:t>
            </a:r>
            <a:r>
              <a:rPr lang="en-US" sz="1200">
                <a:solidFill>
                  <a:schemeClr val="dk2"/>
                </a:solidFill>
              </a:rPr>
              <a:t> edge weights.</a:t>
            </a:r>
            <a:br>
              <a:rPr lang="en-US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2"/>
                </a:solidFill>
              </a:rPr>
              <a:t>Idea:</a:t>
            </a:r>
            <a:r>
              <a:rPr lang="en-US" sz="1200">
                <a:solidFill>
                  <a:schemeClr val="dk2"/>
                </a:solidFill>
              </a:rPr>
              <a:t> Grow a frontier; always expand the node with the </a:t>
            </a:r>
            <a:r>
              <a:rPr b="1" lang="en-US" sz="1200">
                <a:solidFill>
                  <a:schemeClr val="dk2"/>
                </a:solidFill>
              </a:rPr>
              <a:t>smallest current cost</a:t>
            </a:r>
            <a:r>
              <a:rPr lang="en-US" sz="1200">
                <a:solidFill>
                  <a:schemeClr val="dk2"/>
                </a:solidFill>
              </a:rPr>
              <a:t> dist. Once expanded, its cost is </a:t>
            </a:r>
            <a:r>
              <a:rPr b="1" lang="en-US" sz="1200">
                <a:solidFill>
                  <a:schemeClr val="dk2"/>
                </a:solidFill>
              </a:rPr>
              <a:t>final</a:t>
            </a:r>
            <a:r>
              <a:rPr lang="en-US" sz="1200">
                <a:solidFill>
                  <a:schemeClr val="dk2"/>
                </a:solidFill>
              </a:rPr>
              <a:t>.</a:t>
            </a:r>
            <a:br>
              <a:rPr lang="en-US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2"/>
                </a:solidFill>
              </a:rPr>
              <a:t>Mechanics:</a:t>
            </a:r>
            <a:r>
              <a:rPr lang="en-US" sz="1200">
                <a:solidFill>
                  <a:schemeClr val="dk2"/>
                </a:solidFill>
              </a:rPr>
              <a:t> Keep dist[] (∞ except start=0), parent[], and a </a:t>
            </a:r>
            <a:r>
              <a:rPr b="1" lang="en-US" sz="1200">
                <a:solidFill>
                  <a:schemeClr val="dk2"/>
                </a:solidFill>
              </a:rPr>
              <a:t>min-heap</a:t>
            </a:r>
            <a:r>
              <a:rPr lang="en-US" sz="1200">
                <a:solidFill>
                  <a:schemeClr val="dk2"/>
                </a:solidFill>
              </a:rPr>
              <a:t> keyed by dist.</a:t>
            </a:r>
            <a:br>
              <a:rPr lang="en-US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2"/>
                </a:solidFill>
              </a:rPr>
              <a:t>Relaxation:</a:t>
            </a:r>
            <a:r>
              <a:rPr lang="en-US" sz="1200">
                <a:solidFill>
                  <a:schemeClr val="dk2"/>
                </a:solidFill>
              </a:rPr>
              <a:t> When you expand u, for each edge (u→v, w), if dist[u]+w &lt; dist[v], update dist[v], set parent[v]=u, and push v to the heap.</a:t>
            </a:r>
            <a:br>
              <a:rPr lang="en-US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2"/>
                </a:solidFill>
              </a:rPr>
              <a:t>Stop:</a:t>
            </a:r>
            <a:r>
              <a:rPr lang="en-US" sz="1200">
                <a:solidFill>
                  <a:schemeClr val="dk2"/>
                </a:solidFill>
              </a:rPr>
              <a:t> For a single goal, stop when the </a:t>
            </a:r>
            <a:r>
              <a:rPr b="1" lang="en-US" sz="1200">
                <a:solidFill>
                  <a:schemeClr val="dk2"/>
                </a:solidFill>
              </a:rPr>
              <a:t>goal is popped</a:t>
            </a:r>
            <a:r>
              <a:rPr lang="en-US" sz="1200">
                <a:solidFill>
                  <a:schemeClr val="dk2"/>
                </a:solidFill>
              </a:rPr>
              <a:t>; otherwise continue until the heap is empty. Reconstruct the path via parent.</a:t>
            </a:r>
            <a:br>
              <a:rPr lang="en-US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2"/>
                </a:solidFill>
              </a:rPr>
              <a:t>Why it’s correct:</a:t>
            </a:r>
            <a:r>
              <a:rPr lang="en-US" sz="1200">
                <a:solidFill>
                  <a:schemeClr val="dk2"/>
                </a:solidFill>
              </a:rPr>
              <a:t> No negative weights ⇒ costs are non-decreasing when popped ⇒ </a:t>
            </a:r>
            <a:r>
              <a:rPr b="1" lang="en-US" sz="1200">
                <a:solidFill>
                  <a:schemeClr val="dk2"/>
                </a:solidFill>
              </a:rPr>
              <a:t>optimal</a:t>
            </a:r>
            <a:r>
              <a:rPr lang="en-US" sz="1200">
                <a:solidFill>
                  <a:schemeClr val="dk2"/>
                </a:solidFill>
              </a:rPr>
              <a:t>.</a:t>
            </a:r>
            <a:br>
              <a:rPr lang="en-US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2"/>
                </a:solidFill>
              </a:rPr>
              <a:t>Cost:</a:t>
            </a:r>
            <a:r>
              <a:rPr lang="en-US" sz="1200">
                <a:solidFill>
                  <a:schemeClr val="dk2"/>
                </a:solidFill>
              </a:rPr>
              <a:t> ~</a:t>
            </a:r>
            <a:r>
              <a:rPr b="1" lang="en-US" sz="1200">
                <a:solidFill>
                  <a:schemeClr val="dk2"/>
                </a:solidFill>
              </a:rPr>
              <a:t>O((V+E) log V)</a:t>
            </a:r>
            <a:r>
              <a:rPr lang="en-US" sz="1200">
                <a:solidFill>
                  <a:schemeClr val="dk2"/>
                </a:solidFill>
              </a:rPr>
              <a:t> with a binary heap.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1" name="Google Shape;101;g3a227f09822_0_297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227f09822_0_305"/>
          <p:cNvSpPr txBox="1"/>
          <p:nvPr>
            <p:ph type="title"/>
          </p:nvPr>
        </p:nvSpPr>
        <p:spPr>
          <a:xfrm>
            <a:off x="457200" y="52849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A* Algorithm</a:t>
            </a:r>
            <a:endParaRPr/>
          </a:p>
        </p:txBody>
      </p:sp>
      <p:sp>
        <p:nvSpPr>
          <p:cNvPr id="108" name="Google Shape;108;g3a227f09822_0_305"/>
          <p:cNvSpPr txBox="1"/>
          <p:nvPr>
            <p:ph idx="1" type="body"/>
          </p:nvPr>
        </p:nvSpPr>
        <p:spPr>
          <a:xfrm>
            <a:off x="457200" y="1543050"/>
            <a:ext cx="8229600" cy="265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Goal:</a:t>
            </a:r>
            <a:r>
              <a:rPr lang="en-US" sz="1100">
                <a:solidFill>
                  <a:schemeClr val="dk1"/>
                </a:solidFill>
              </a:rPr>
              <a:t> Optimal path start→goal on a graph with </a:t>
            </a:r>
            <a:r>
              <a:rPr b="1" lang="en-US" sz="1100">
                <a:solidFill>
                  <a:schemeClr val="dk1"/>
                </a:solidFill>
              </a:rPr>
              <a:t>non-negative</a:t>
            </a:r>
            <a:r>
              <a:rPr lang="en-US" sz="1100">
                <a:solidFill>
                  <a:schemeClr val="dk1"/>
                </a:solidFill>
              </a:rPr>
              <a:t> edge costs.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Rule:</a:t>
            </a:r>
            <a:r>
              <a:rPr lang="en-US" sz="1100">
                <a:solidFill>
                  <a:schemeClr val="dk1"/>
                </a:solidFill>
              </a:rPr>
              <a:t> Expand the node with </a:t>
            </a:r>
            <a:r>
              <a:rPr b="1" lang="en-US" sz="1100">
                <a:solidFill>
                  <a:schemeClr val="dk1"/>
                </a:solidFill>
              </a:rPr>
              <a:t>smallest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rgbClr val="188038"/>
                </a:solidFill>
              </a:rPr>
              <a:t>f(n) = g(n) + h(n)</a:t>
            </a:r>
            <a:r>
              <a:rPr lang="en-US" sz="1100">
                <a:solidFill>
                  <a:schemeClr val="dk1"/>
                </a:solidFill>
              </a:rPr>
              <a:t>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88038"/>
                </a:solidFill>
              </a:rPr>
              <a:t>g(n)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</a:rPr>
              <a:t> exact cost-so-far; </a:t>
            </a:r>
            <a:r>
              <a:rPr b="1" lang="en-US" sz="1100">
                <a:solidFill>
                  <a:srgbClr val="188038"/>
                </a:solidFill>
              </a:rPr>
              <a:t>h(n)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</a:rPr>
              <a:t> heuristic </a:t>
            </a:r>
            <a:r>
              <a:rPr b="1" lang="en-US" sz="1100">
                <a:solidFill>
                  <a:schemeClr val="dk1"/>
                </a:solidFill>
              </a:rPr>
              <a:t>lower bound</a:t>
            </a:r>
            <a:r>
              <a:rPr lang="en-US" sz="1100">
                <a:solidFill>
                  <a:schemeClr val="dk1"/>
                </a:solidFill>
              </a:rPr>
              <a:t> to the goal.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Optimality:</a:t>
            </a:r>
            <a:r>
              <a:rPr lang="en-US" sz="1100">
                <a:solidFill>
                  <a:schemeClr val="dk1"/>
                </a:solidFill>
              </a:rPr>
              <a:t> If </a:t>
            </a:r>
            <a:r>
              <a:rPr lang="en-US" sz="1100">
                <a:solidFill>
                  <a:srgbClr val="188038"/>
                </a:solidFill>
              </a:rPr>
              <a:t>h</a:t>
            </a:r>
            <a:r>
              <a:rPr lang="en-US" sz="1100">
                <a:solidFill>
                  <a:schemeClr val="dk1"/>
                </a:solidFill>
              </a:rPr>
              <a:t> is </a:t>
            </a:r>
            <a:r>
              <a:rPr b="1" lang="en-US" sz="1100">
                <a:solidFill>
                  <a:schemeClr val="dk1"/>
                </a:solidFill>
              </a:rPr>
              <a:t>admissible</a:t>
            </a:r>
            <a:r>
              <a:rPr lang="en-US" sz="1100">
                <a:solidFill>
                  <a:schemeClr val="dk1"/>
                </a:solidFill>
              </a:rPr>
              <a:t> (never overestimates). </a:t>
            </a:r>
            <a:r>
              <a:rPr b="1" lang="en-US" sz="1100">
                <a:solidFill>
                  <a:schemeClr val="dk1"/>
                </a:solidFill>
              </a:rPr>
              <a:t>Consistency</a:t>
            </a:r>
            <a:r>
              <a:rPr lang="en-US" sz="1100">
                <a:solidFill>
                  <a:schemeClr val="dk1"/>
                </a:solidFill>
              </a:rPr>
              <a:t> (triangle inequality) avoids reopens.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Steps:</a:t>
            </a:r>
            <a:r>
              <a:rPr lang="en-US" sz="1100">
                <a:solidFill>
                  <a:schemeClr val="dk1"/>
                </a:solidFill>
              </a:rPr>
              <a:t> Init </a:t>
            </a:r>
            <a:r>
              <a:rPr lang="en-US" sz="1100">
                <a:solidFill>
                  <a:srgbClr val="188038"/>
                </a:solidFill>
              </a:rPr>
              <a:t>g(s)=0</a:t>
            </a:r>
            <a:r>
              <a:rPr lang="en-US" sz="1100">
                <a:solidFill>
                  <a:schemeClr val="dk1"/>
                </a:solidFill>
              </a:rPr>
              <a:t>; push </a:t>
            </a:r>
            <a:r>
              <a:rPr lang="en-US" sz="1100">
                <a:solidFill>
                  <a:srgbClr val="188038"/>
                </a:solidFill>
              </a:rPr>
              <a:t>s</a:t>
            </a:r>
            <a:r>
              <a:rPr lang="en-US" sz="1100">
                <a:solidFill>
                  <a:schemeClr val="dk1"/>
                </a:solidFill>
              </a:rPr>
              <a:t>. Pop lowest-</a:t>
            </a:r>
            <a:r>
              <a:rPr lang="en-US" sz="1100">
                <a:solidFill>
                  <a:srgbClr val="188038"/>
                </a:solidFill>
              </a:rPr>
              <a:t>f</a:t>
            </a:r>
            <a:r>
              <a:rPr lang="en-US" sz="1100">
                <a:solidFill>
                  <a:schemeClr val="dk1"/>
                </a:solidFill>
              </a:rPr>
              <a:t> node </a:t>
            </a:r>
            <a:r>
              <a:rPr lang="en-US" sz="1100">
                <a:solidFill>
                  <a:srgbClr val="188038"/>
                </a:solidFill>
              </a:rPr>
              <a:t>u</a:t>
            </a:r>
            <a:r>
              <a:rPr lang="en-US" sz="1100">
                <a:solidFill>
                  <a:schemeClr val="dk1"/>
                </a:solidFill>
              </a:rPr>
              <a:t>; if </a:t>
            </a:r>
            <a:r>
              <a:rPr lang="en-US" sz="1100">
                <a:solidFill>
                  <a:srgbClr val="188038"/>
                </a:solidFill>
              </a:rPr>
              <a:t>u</a:t>
            </a:r>
            <a:r>
              <a:rPr lang="en-US" sz="1100">
                <a:solidFill>
                  <a:schemeClr val="dk1"/>
                </a:solidFill>
              </a:rPr>
              <a:t> is </a:t>
            </a:r>
            <a:r>
              <a:rPr b="1" lang="en-US" sz="1100">
                <a:solidFill>
                  <a:schemeClr val="dk1"/>
                </a:solidFill>
              </a:rPr>
              <a:t>goal</a:t>
            </a:r>
            <a:r>
              <a:rPr lang="en-US" sz="1100">
                <a:solidFill>
                  <a:schemeClr val="dk1"/>
                </a:solidFill>
              </a:rPr>
              <a:t> → stop. For each neighbor </a:t>
            </a:r>
            <a:r>
              <a:rPr lang="en-US" sz="1100">
                <a:solidFill>
                  <a:srgbClr val="188038"/>
                </a:solidFill>
              </a:rPr>
              <a:t>v</a:t>
            </a:r>
            <a:r>
              <a:rPr lang="en-US" sz="1100">
                <a:solidFill>
                  <a:schemeClr val="dk1"/>
                </a:solidFill>
              </a:rPr>
              <a:t>, if </a:t>
            </a:r>
            <a:r>
              <a:rPr lang="en-US" sz="1100">
                <a:solidFill>
                  <a:srgbClr val="188038"/>
                </a:solidFill>
              </a:rPr>
              <a:t>g[u]+w &lt; g[v]</a:t>
            </a:r>
            <a:r>
              <a:rPr lang="en-US" sz="1100">
                <a:solidFill>
                  <a:schemeClr val="dk1"/>
                </a:solidFill>
              </a:rPr>
              <a:t>, update </a:t>
            </a:r>
            <a:r>
              <a:rPr lang="en-US" sz="1100">
                <a:solidFill>
                  <a:srgbClr val="188038"/>
                </a:solidFill>
              </a:rPr>
              <a:t>g[v]</a:t>
            </a:r>
            <a:r>
              <a:rPr lang="en-US" sz="1100">
                <a:solidFill>
                  <a:schemeClr val="dk1"/>
                </a:solidFill>
              </a:rPr>
              <a:t>, set </a:t>
            </a:r>
            <a:r>
              <a:rPr lang="en-US" sz="1100">
                <a:solidFill>
                  <a:srgbClr val="188038"/>
                </a:solidFill>
              </a:rPr>
              <a:t>parent[v]=u</a:t>
            </a:r>
            <a:r>
              <a:rPr lang="en-US" sz="1100">
                <a:solidFill>
                  <a:schemeClr val="dk1"/>
                </a:solidFill>
              </a:rPr>
              <a:t>, push with new </a:t>
            </a:r>
            <a:r>
              <a:rPr lang="en-US" sz="1100">
                <a:solidFill>
                  <a:srgbClr val="188038"/>
                </a:solidFill>
              </a:rPr>
              <a:t>f</a:t>
            </a:r>
            <a:r>
              <a:rPr lang="en-US" sz="1100">
                <a:solidFill>
                  <a:schemeClr val="dk1"/>
                </a:solidFill>
              </a:rPr>
              <a:t>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Relation to Dijkstra: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rgbClr val="188038"/>
                </a:solidFill>
              </a:rPr>
              <a:t>h ≡ 0</a:t>
            </a:r>
            <a:r>
              <a:rPr lang="en-US" sz="1100">
                <a:solidFill>
                  <a:schemeClr val="dk1"/>
                </a:solidFill>
              </a:rPr>
              <a:t> ⇒ A* </a:t>
            </a:r>
            <a:r>
              <a:rPr b="1" lang="en-US" sz="1100">
                <a:solidFill>
                  <a:schemeClr val="dk1"/>
                </a:solidFill>
              </a:rPr>
              <a:t>reduces to Dijkstra</a:t>
            </a:r>
            <a:r>
              <a:rPr lang="en-US" sz="1100">
                <a:solidFill>
                  <a:schemeClr val="dk1"/>
                </a:solidFill>
              </a:rPr>
              <a:t>. Tighter </a:t>
            </a:r>
            <a:r>
              <a:rPr lang="en-US" sz="1100">
                <a:solidFill>
                  <a:srgbClr val="188038"/>
                </a:solidFill>
              </a:rPr>
              <a:t>h</a:t>
            </a:r>
            <a:r>
              <a:rPr lang="en-US" sz="1100">
                <a:solidFill>
                  <a:schemeClr val="dk1"/>
                </a:solidFill>
              </a:rPr>
              <a:t> ⇒ far </a:t>
            </a:r>
            <a:r>
              <a:rPr b="1" lang="en-US" sz="1100">
                <a:solidFill>
                  <a:schemeClr val="dk1"/>
                </a:solidFill>
              </a:rPr>
              <a:t>fewer expansions</a:t>
            </a:r>
            <a:r>
              <a:rPr lang="en-US" sz="1100">
                <a:solidFill>
                  <a:schemeClr val="dk1"/>
                </a:solidFill>
              </a:rPr>
              <a:t>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Heuristics:</a:t>
            </a:r>
            <a:r>
              <a:rPr lang="en-US" sz="1100">
                <a:solidFill>
                  <a:schemeClr val="dk1"/>
                </a:solidFill>
              </a:rPr>
              <a:t> Grids—Manhattan/Euclidean; Road graphs—</a:t>
            </a:r>
            <a:r>
              <a:rPr b="1" lang="en-US" sz="1100">
                <a:solidFill>
                  <a:schemeClr val="dk1"/>
                </a:solidFill>
              </a:rPr>
              <a:t>landmarks/ALT</a:t>
            </a:r>
            <a:r>
              <a:rPr lang="en-US" sz="1100">
                <a:solidFill>
                  <a:schemeClr val="dk1"/>
                </a:solidFill>
              </a:rPr>
              <a:t>; Car-like—</a:t>
            </a:r>
            <a:r>
              <a:rPr b="1" lang="en-US" sz="1100">
                <a:solidFill>
                  <a:schemeClr val="dk1"/>
                </a:solidFill>
              </a:rPr>
              <a:t>Dubins/Reeds–Shepp</a:t>
            </a:r>
            <a:r>
              <a:rPr lang="en-US" sz="1100">
                <a:solidFill>
                  <a:schemeClr val="dk1"/>
                </a:solidFill>
              </a:rPr>
              <a:t> lower bounds.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Pitfalls:</a:t>
            </a:r>
            <a:r>
              <a:rPr lang="en-US" sz="1100">
                <a:solidFill>
                  <a:schemeClr val="dk1"/>
                </a:solidFill>
              </a:rPr>
              <a:t> Negative edges; </a:t>
            </a:r>
            <a:r>
              <a:rPr b="1" lang="en-US" sz="1100">
                <a:solidFill>
                  <a:schemeClr val="dk1"/>
                </a:solidFill>
              </a:rPr>
              <a:t>overestimating </a:t>
            </a:r>
            <a:r>
              <a:rPr b="1" lang="en-US" sz="1100">
                <a:solidFill>
                  <a:srgbClr val="188038"/>
                </a:solidFill>
              </a:rPr>
              <a:t>h</a:t>
            </a:r>
            <a:r>
              <a:rPr lang="en-US" sz="1100">
                <a:solidFill>
                  <a:schemeClr val="dk1"/>
                </a:solidFill>
              </a:rPr>
              <a:t> (loses optimality); </a:t>
            </a:r>
            <a:r>
              <a:rPr b="1" lang="en-US" sz="1100">
                <a:solidFill>
                  <a:schemeClr val="dk1"/>
                </a:solidFill>
              </a:rPr>
              <a:t>inconsistent </a:t>
            </a:r>
            <a:r>
              <a:rPr b="1" lang="en-US" sz="1100">
                <a:solidFill>
                  <a:srgbClr val="188038"/>
                </a:solidFill>
              </a:rPr>
              <a:t>h</a:t>
            </a:r>
            <a:r>
              <a:rPr lang="en-US" sz="1100">
                <a:solidFill>
                  <a:schemeClr val="dk1"/>
                </a:solidFill>
              </a:rPr>
              <a:t> (may require reopens).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Cost:</a:t>
            </a:r>
            <a:r>
              <a:rPr lang="en-US" sz="1100">
                <a:solidFill>
                  <a:schemeClr val="dk1"/>
                </a:solidFill>
              </a:rPr>
              <a:t> ~</a:t>
            </a:r>
            <a:r>
              <a:rPr b="1" lang="en-US" sz="1100">
                <a:solidFill>
                  <a:schemeClr val="dk1"/>
                </a:solidFill>
              </a:rPr>
              <a:t>O((V+E) log V)</a:t>
            </a:r>
            <a:r>
              <a:rPr lang="en-US" sz="1100">
                <a:solidFill>
                  <a:schemeClr val="dk1"/>
                </a:solidFill>
              </a:rPr>
              <a:t> with a heap; explored nodes depend on heuristic quality.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9" name="Google Shape;109;g3a227f09822_0_305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227f09822_0_0"/>
          <p:cNvSpPr txBox="1"/>
          <p:nvPr>
            <p:ph type="title"/>
          </p:nvPr>
        </p:nvSpPr>
        <p:spPr>
          <a:xfrm>
            <a:off x="473900" y="899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116" name="Google Shape;116;g3a227f09822_0_0"/>
          <p:cNvSpPr txBox="1"/>
          <p:nvPr>
            <p:ph idx="12" type="sldNum"/>
          </p:nvPr>
        </p:nvSpPr>
        <p:spPr>
          <a:xfrm>
            <a:off x="2216250" y="4744913"/>
            <a:ext cx="2133600" cy="2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7" name="Google Shape;117;g3a227f09822_0_0"/>
          <p:cNvGrpSpPr/>
          <p:nvPr/>
        </p:nvGrpSpPr>
        <p:grpSpPr>
          <a:xfrm>
            <a:off x="0" y="1013046"/>
            <a:ext cx="5837287" cy="2861691"/>
            <a:chOff x="-4" y="1180550"/>
            <a:chExt cx="6566127" cy="3219000"/>
          </a:xfrm>
        </p:grpSpPr>
        <p:pic>
          <p:nvPicPr>
            <p:cNvPr id="118" name="Google Shape;118;g3a227f09822_0_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1329852"/>
              <a:ext cx="6566124" cy="30327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9" name="Google Shape;119;g3a227f09822_0_0"/>
            <p:cNvGrpSpPr/>
            <p:nvPr/>
          </p:nvGrpSpPr>
          <p:grpSpPr>
            <a:xfrm>
              <a:off x="176475" y="1954400"/>
              <a:ext cx="296350" cy="268500"/>
              <a:chOff x="1409525" y="2144475"/>
              <a:chExt cx="296350" cy="268500"/>
            </a:xfrm>
          </p:grpSpPr>
          <p:sp>
            <p:nvSpPr>
              <p:cNvPr id="120" name="Google Shape;120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" name="Google Shape;122;g3a227f09822_0_0"/>
            <p:cNvGrpSpPr/>
            <p:nvPr/>
          </p:nvGrpSpPr>
          <p:grpSpPr>
            <a:xfrm>
              <a:off x="2117925" y="1776950"/>
              <a:ext cx="296350" cy="268500"/>
              <a:chOff x="1409525" y="2144475"/>
              <a:chExt cx="296350" cy="268500"/>
            </a:xfrm>
          </p:grpSpPr>
          <p:sp>
            <p:nvSpPr>
              <p:cNvPr id="123" name="Google Shape;123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g3a227f09822_0_0"/>
            <p:cNvGrpSpPr/>
            <p:nvPr/>
          </p:nvGrpSpPr>
          <p:grpSpPr>
            <a:xfrm>
              <a:off x="414175" y="3947625"/>
              <a:ext cx="296350" cy="268500"/>
              <a:chOff x="1409525" y="2144475"/>
              <a:chExt cx="296350" cy="268500"/>
            </a:xfrm>
          </p:grpSpPr>
          <p:sp>
            <p:nvSpPr>
              <p:cNvPr id="126" name="Google Shape;126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g3a227f09822_0_0"/>
            <p:cNvGrpSpPr/>
            <p:nvPr/>
          </p:nvGrpSpPr>
          <p:grpSpPr>
            <a:xfrm>
              <a:off x="2271775" y="3708675"/>
              <a:ext cx="296350" cy="268500"/>
              <a:chOff x="1409525" y="2144475"/>
              <a:chExt cx="296350" cy="268500"/>
            </a:xfrm>
          </p:grpSpPr>
          <p:sp>
            <p:nvSpPr>
              <p:cNvPr id="129" name="Google Shape;129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" name="Google Shape;131;g3a227f09822_0_0"/>
            <p:cNvGrpSpPr/>
            <p:nvPr/>
          </p:nvGrpSpPr>
          <p:grpSpPr>
            <a:xfrm>
              <a:off x="5515875" y="1462625"/>
              <a:ext cx="296350" cy="268500"/>
              <a:chOff x="1409525" y="2144475"/>
              <a:chExt cx="296350" cy="268500"/>
            </a:xfrm>
          </p:grpSpPr>
          <p:sp>
            <p:nvSpPr>
              <p:cNvPr id="132" name="Google Shape;132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" name="Google Shape;134;g3a227f09822_0_0"/>
            <p:cNvGrpSpPr/>
            <p:nvPr/>
          </p:nvGrpSpPr>
          <p:grpSpPr>
            <a:xfrm>
              <a:off x="5612350" y="1995175"/>
              <a:ext cx="296350" cy="268500"/>
              <a:chOff x="1409525" y="2144475"/>
              <a:chExt cx="296350" cy="268500"/>
            </a:xfrm>
          </p:grpSpPr>
          <p:sp>
            <p:nvSpPr>
              <p:cNvPr id="135" name="Google Shape;135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g3a227f09822_0_0"/>
            <p:cNvGrpSpPr/>
            <p:nvPr/>
          </p:nvGrpSpPr>
          <p:grpSpPr>
            <a:xfrm>
              <a:off x="5787100" y="3534100"/>
              <a:ext cx="296350" cy="268500"/>
              <a:chOff x="1409525" y="2144475"/>
              <a:chExt cx="296350" cy="268500"/>
            </a:xfrm>
          </p:grpSpPr>
          <p:sp>
            <p:nvSpPr>
              <p:cNvPr id="138" name="Google Shape;138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g3a227f09822_0_0"/>
            <p:cNvGrpSpPr/>
            <p:nvPr/>
          </p:nvGrpSpPr>
          <p:grpSpPr>
            <a:xfrm>
              <a:off x="3060275" y="1685900"/>
              <a:ext cx="296350" cy="268500"/>
              <a:chOff x="1409525" y="2144475"/>
              <a:chExt cx="296350" cy="268500"/>
            </a:xfrm>
          </p:grpSpPr>
          <p:sp>
            <p:nvSpPr>
              <p:cNvPr id="141" name="Google Shape;141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g3a227f09822_0_0"/>
            <p:cNvGrpSpPr/>
            <p:nvPr/>
          </p:nvGrpSpPr>
          <p:grpSpPr>
            <a:xfrm>
              <a:off x="4520900" y="1569050"/>
              <a:ext cx="296350" cy="268500"/>
              <a:chOff x="1409525" y="2144475"/>
              <a:chExt cx="296350" cy="268500"/>
            </a:xfrm>
          </p:grpSpPr>
          <p:sp>
            <p:nvSpPr>
              <p:cNvPr id="144" name="Google Shape;144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" name="Google Shape;146;g3a227f09822_0_0"/>
            <p:cNvGrpSpPr/>
            <p:nvPr/>
          </p:nvGrpSpPr>
          <p:grpSpPr>
            <a:xfrm>
              <a:off x="4555900" y="1905950"/>
              <a:ext cx="296350" cy="268500"/>
              <a:chOff x="1409525" y="2144475"/>
              <a:chExt cx="296350" cy="268500"/>
            </a:xfrm>
          </p:grpSpPr>
          <p:sp>
            <p:nvSpPr>
              <p:cNvPr id="147" name="Google Shape;147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g3a227f09822_0_0"/>
            <p:cNvGrpSpPr/>
            <p:nvPr/>
          </p:nvGrpSpPr>
          <p:grpSpPr>
            <a:xfrm>
              <a:off x="3092575" y="2045450"/>
              <a:ext cx="296350" cy="268500"/>
              <a:chOff x="1409525" y="2144475"/>
              <a:chExt cx="296350" cy="268500"/>
            </a:xfrm>
          </p:grpSpPr>
          <p:sp>
            <p:nvSpPr>
              <p:cNvPr id="150" name="Google Shape;150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" name="Google Shape;152;g3a227f09822_0_0"/>
            <p:cNvGrpSpPr/>
            <p:nvPr/>
          </p:nvGrpSpPr>
          <p:grpSpPr>
            <a:xfrm>
              <a:off x="3134888" y="2405000"/>
              <a:ext cx="296350" cy="268500"/>
              <a:chOff x="1409525" y="2144475"/>
              <a:chExt cx="296350" cy="268500"/>
            </a:xfrm>
          </p:grpSpPr>
          <p:sp>
            <p:nvSpPr>
              <p:cNvPr id="153" name="Google Shape;153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" name="Google Shape;155;g3a227f09822_0_0"/>
            <p:cNvGrpSpPr/>
            <p:nvPr/>
          </p:nvGrpSpPr>
          <p:grpSpPr>
            <a:xfrm>
              <a:off x="4621750" y="2263675"/>
              <a:ext cx="296350" cy="268500"/>
              <a:chOff x="1409525" y="2144475"/>
              <a:chExt cx="296350" cy="268500"/>
            </a:xfrm>
          </p:grpSpPr>
          <p:sp>
            <p:nvSpPr>
              <p:cNvPr id="156" name="Google Shape;156;g3a227f09822_0_0"/>
              <p:cNvSpPr/>
              <p:nvPr/>
            </p:nvSpPr>
            <p:spPr>
              <a:xfrm>
                <a:off x="1437375" y="2144475"/>
                <a:ext cx="268500" cy="268500"/>
              </a:xfrm>
              <a:prstGeom prst="flowChartConnector">
                <a:avLst/>
              </a:prstGeom>
              <a:solidFill>
                <a:schemeClr val="lt2"/>
              </a:solidFill>
              <a:ln cap="flat" cmpd="sng" w="84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4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g3a227f09822_0_0"/>
              <p:cNvSpPr txBox="1"/>
              <p:nvPr/>
            </p:nvSpPr>
            <p:spPr>
              <a:xfrm>
                <a:off x="1409525" y="2217675"/>
                <a:ext cx="100500" cy="12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1275" lIns="81275" spcFirstLastPara="1" rIns="81275" wrap="square" tIns="8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endParaRPr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58" name="Google Shape;158;g3a227f09822_0_0"/>
            <p:cNvCxnSpPr>
              <a:stCxn id="120" idx="5"/>
              <a:endCxn id="123" idx="3"/>
            </p:cNvCxnSpPr>
            <p:nvPr/>
          </p:nvCxnSpPr>
          <p:spPr>
            <a:xfrm flipH="1" rot="10800000">
              <a:off x="433504" y="2006279"/>
              <a:ext cx="1751700" cy="1773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59" name="Google Shape;159;g3a227f09822_0_0"/>
            <p:cNvCxnSpPr>
              <a:stCxn id="123" idx="5"/>
              <a:endCxn id="141" idx="3"/>
            </p:cNvCxnSpPr>
            <p:nvPr/>
          </p:nvCxnSpPr>
          <p:spPr>
            <a:xfrm flipH="1" rot="10800000">
              <a:off x="2374954" y="1914929"/>
              <a:ext cx="752400" cy="912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60" name="Google Shape;160;g3a227f09822_0_0"/>
            <p:cNvCxnSpPr>
              <a:stCxn id="141" idx="5"/>
              <a:endCxn id="144" idx="3"/>
            </p:cNvCxnSpPr>
            <p:nvPr/>
          </p:nvCxnSpPr>
          <p:spPr>
            <a:xfrm flipH="1" rot="10800000">
              <a:off x="3317304" y="1798079"/>
              <a:ext cx="1270800" cy="1170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61" name="Google Shape;161;g3a227f09822_0_0"/>
            <p:cNvCxnSpPr>
              <a:stCxn id="144" idx="5"/>
              <a:endCxn id="132" idx="3"/>
            </p:cNvCxnSpPr>
            <p:nvPr/>
          </p:nvCxnSpPr>
          <p:spPr>
            <a:xfrm flipH="1" rot="10800000">
              <a:off x="4777929" y="1691729"/>
              <a:ext cx="805200" cy="1065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62" name="Google Shape;162;g3a227f09822_0_0"/>
            <p:cNvCxnSpPr>
              <a:stCxn id="132" idx="4"/>
              <a:endCxn id="135" idx="1"/>
            </p:cNvCxnSpPr>
            <p:nvPr/>
          </p:nvCxnSpPr>
          <p:spPr>
            <a:xfrm>
              <a:off x="5677975" y="1731125"/>
              <a:ext cx="1500" cy="3033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63" name="Google Shape;163;g3a227f09822_0_0"/>
            <p:cNvCxnSpPr>
              <a:stCxn id="135" idx="3"/>
              <a:endCxn id="138" idx="1"/>
            </p:cNvCxnSpPr>
            <p:nvPr/>
          </p:nvCxnSpPr>
          <p:spPr>
            <a:xfrm>
              <a:off x="5679521" y="2224354"/>
              <a:ext cx="174600" cy="13491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64" name="Google Shape;164;g3a227f09822_0_0"/>
            <p:cNvCxnSpPr>
              <a:stCxn id="139" idx="0"/>
              <a:endCxn id="129" idx="7"/>
            </p:cNvCxnSpPr>
            <p:nvPr/>
          </p:nvCxnSpPr>
          <p:spPr>
            <a:xfrm flipH="1">
              <a:off x="2528950" y="3607300"/>
              <a:ext cx="3308400" cy="1407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65" name="Google Shape;165;g3a227f09822_0_0"/>
            <p:cNvCxnSpPr>
              <a:stCxn id="130" idx="0"/>
              <a:endCxn id="126" idx="7"/>
            </p:cNvCxnSpPr>
            <p:nvPr/>
          </p:nvCxnSpPr>
          <p:spPr>
            <a:xfrm flipH="1">
              <a:off x="671125" y="3781875"/>
              <a:ext cx="1650900" cy="2052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66" name="Google Shape;166;g3a227f09822_0_0"/>
            <p:cNvCxnSpPr>
              <a:stCxn id="126" idx="0"/>
              <a:endCxn id="120" idx="5"/>
            </p:cNvCxnSpPr>
            <p:nvPr/>
          </p:nvCxnSpPr>
          <p:spPr>
            <a:xfrm rot="10800000">
              <a:off x="433475" y="2183625"/>
              <a:ext cx="142800" cy="17640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67" name="Google Shape;167;g3a227f09822_0_0"/>
            <p:cNvCxnSpPr>
              <a:endCxn id="151" idx="0"/>
            </p:cNvCxnSpPr>
            <p:nvPr/>
          </p:nvCxnSpPr>
          <p:spPr>
            <a:xfrm>
              <a:off x="3127525" y="1914950"/>
              <a:ext cx="15300" cy="2037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68" name="Google Shape;168;g3a227f09822_0_0"/>
            <p:cNvCxnSpPr>
              <a:endCxn id="154" idx="0"/>
            </p:cNvCxnSpPr>
            <p:nvPr/>
          </p:nvCxnSpPr>
          <p:spPr>
            <a:xfrm>
              <a:off x="3159638" y="2274500"/>
              <a:ext cx="25500" cy="2037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69" name="Google Shape;169;g3a227f09822_0_0"/>
            <p:cNvCxnSpPr>
              <a:stCxn id="153" idx="5"/>
              <a:endCxn id="156" idx="3"/>
            </p:cNvCxnSpPr>
            <p:nvPr/>
          </p:nvCxnSpPr>
          <p:spPr>
            <a:xfrm flipH="1" rot="10800000">
              <a:off x="3391917" y="2492879"/>
              <a:ext cx="1296900" cy="1413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0" name="Google Shape;170;g3a227f09822_0_0"/>
            <p:cNvCxnSpPr>
              <a:stCxn id="150" idx="5"/>
              <a:endCxn id="147" idx="3"/>
            </p:cNvCxnSpPr>
            <p:nvPr/>
          </p:nvCxnSpPr>
          <p:spPr>
            <a:xfrm flipH="1" rot="10800000">
              <a:off x="3349604" y="2135129"/>
              <a:ext cx="1273500" cy="1395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1" name="Google Shape;171;g3a227f09822_0_0"/>
            <p:cNvCxnSpPr>
              <a:stCxn id="156" idx="7"/>
              <a:endCxn id="147" idx="5"/>
            </p:cNvCxnSpPr>
            <p:nvPr/>
          </p:nvCxnSpPr>
          <p:spPr>
            <a:xfrm rot="10800000">
              <a:off x="4812779" y="2134996"/>
              <a:ext cx="66000" cy="1680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2" name="Google Shape;172;g3a227f09822_0_0"/>
            <p:cNvCxnSpPr>
              <a:stCxn id="147" idx="7"/>
              <a:endCxn id="144" idx="5"/>
            </p:cNvCxnSpPr>
            <p:nvPr/>
          </p:nvCxnSpPr>
          <p:spPr>
            <a:xfrm rot="10800000">
              <a:off x="4777829" y="1798271"/>
              <a:ext cx="35100" cy="1470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3" name="Google Shape;173;g3a227f09822_0_0"/>
            <p:cNvCxnSpPr>
              <a:stCxn id="124" idx="0"/>
              <a:endCxn id="120" idx="7"/>
            </p:cNvCxnSpPr>
            <p:nvPr/>
          </p:nvCxnSpPr>
          <p:spPr>
            <a:xfrm flipH="1">
              <a:off x="433575" y="1850150"/>
              <a:ext cx="1734600" cy="1437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4" name="Google Shape;174;g3a227f09822_0_0"/>
            <p:cNvCxnSpPr>
              <a:endCxn id="127" idx="0"/>
            </p:cNvCxnSpPr>
            <p:nvPr/>
          </p:nvCxnSpPr>
          <p:spPr>
            <a:xfrm>
              <a:off x="243625" y="2183625"/>
              <a:ext cx="220800" cy="18372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5" name="Google Shape;175;g3a227f09822_0_0"/>
            <p:cNvCxnSpPr>
              <a:stCxn id="126" idx="5"/>
              <a:endCxn id="130" idx="2"/>
            </p:cNvCxnSpPr>
            <p:nvPr/>
          </p:nvCxnSpPr>
          <p:spPr>
            <a:xfrm flipH="1" rot="10800000">
              <a:off x="671204" y="3904104"/>
              <a:ext cx="1650900" cy="2727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6" name="Google Shape;176;g3a227f09822_0_0"/>
            <p:cNvCxnSpPr>
              <a:stCxn id="129" idx="5"/>
              <a:endCxn id="138" idx="3"/>
            </p:cNvCxnSpPr>
            <p:nvPr/>
          </p:nvCxnSpPr>
          <p:spPr>
            <a:xfrm flipH="1" rot="10800000">
              <a:off x="2528804" y="3763254"/>
              <a:ext cx="3325500" cy="1746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7" name="Google Shape;177;g3a227f09822_0_0"/>
            <p:cNvCxnSpPr>
              <a:stCxn id="138" idx="7"/>
              <a:endCxn id="135" idx="5"/>
            </p:cNvCxnSpPr>
            <p:nvPr/>
          </p:nvCxnSpPr>
          <p:spPr>
            <a:xfrm rot="10800000">
              <a:off x="5869529" y="2224321"/>
              <a:ext cx="174600" cy="13491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8" name="Google Shape;178;g3a227f09822_0_0"/>
            <p:cNvCxnSpPr>
              <a:stCxn id="135" idx="7"/>
              <a:endCxn id="132" idx="5"/>
            </p:cNvCxnSpPr>
            <p:nvPr/>
          </p:nvCxnSpPr>
          <p:spPr>
            <a:xfrm rot="10800000">
              <a:off x="5772779" y="1691896"/>
              <a:ext cx="96600" cy="3426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9" name="Google Shape;179;g3a227f09822_0_0"/>
            <p:cNvCxnSpPr>
              <a:stCxn id="133" idx="0"/>
              <a:endCxn id="144" idx="7"/>
            </p:cNvCxnSpPr>
            <p:nvPr/>
          </p:nvCxnSpPr>
          <p:spPr>
            <a:xfrm flipH="1">
              <a:off x="4778025" y="1535825"/>
              <a:ext cx="788100" cy="726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0" name="Google Shape;180;g3a227f09822_0_0"/>
            <p:cNvCxnSpPr>
              <a:stCxn id="145" idx="0"/>
              <a:endCxn id="141" idx="7"/>
            </p:cNvCxnSpPr>
            <p:nvPr/>
          </p:nvCxnSpPr>
          <p:spPr>
            <a:xfrm flipH="1">
              <a:off x="3317450" y="1642250"/>
              <a:ext cx="1253700" cy="831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1" name="Google Shape;181;g3a227f09822_0_0"/>
            <p:cNvCxnSpPr>
              <a:stCxn id="142" idx="0"/>
              <a:endCxn id="123" idx="7"/>
            </p:cNvCxnSpPr>
            <p:nvPr/>
          </p:nvCxnSpPr>
          <p:spPr>
            <a:xfrm flipH="1">
              <a:off x="2374925" y="1759100"/>
              <a:ext cx="735600" cy="573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2" name="Google Shape;182;g3a227f09822_0_0"/>
            <p:cNvCxnSpPr>
              <a:endCxn id="129" idx="1"/>
            </p:cNvCxnSpPr>
            <p:nvPr/>
          </p:nvCxnSpPr>
          <p:spPr>
            <a:xfrm>
              <a:off x="2185046" y="2006196"/>
              <a:ext cx="153900" cy="17418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3" name="Google Shape;183;g3a227f09822_0_0"/>
            <p:cNvCxnSpPr>
              <a:stCxn id="157" idx="0"/>
              <a:endCxn id="153" idx="7"/>
            </p:cNvCxnSpPr>
            <p:nvPr/>
          </p:nvCxnSpPr>
          <p:spPr>
            <a:xfrm flipH="1">
              <a:off x="3391900" y="2336875"/>
              <a:ext cx="1280100" cy="1074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4" name="Google Shape;184;g3a227f09822_0_0"/>
            <p:cNvCxnSpPr>
              <a:endCxn id="157" idx="0"/>
            </p:cNvCxnSpPr>
            <p:nvPr/>
          </p:nvCxnSpPr>
          <p:spPr>
            <a:xfrm>
              <a:off x="4606000" y="2101375"/>
              <a:ext cx="66000" cy="2355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5" name="Google Shape;185;g3a227f09822_0_0"/>
            <p:cNvCxnSpPr>
              <a:stCxn id="145" idx="2"/>
              <a:endCxn id="148" idx="0"/>
            </p:cNvCxnSpPr>
            <p:nvPr/>
          </p:nvCxnSpPr>
          <p:spPr>
            <a:xfrm>
              <a:off x="4571150" y="1764350"/>
              <a:ext cx="35100" cy="2148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6" name="Google Shape;186;g3a227f09822_0_0"/>
            <p:cNvCxnSpPr>
              <a:stCxn id="150" idx="7"/>
              <a:endCxn id="141" idx="5"/>
            </p:cNvCxnSpPr>
            <p:nvPr/>
          </p:nvCxnSpPr>
          <p:spPr>
            <a:xfrm rot="10800000">
              <a:off x="3317204" y="1914971"/>
              <a:ext cx="32400" cy="1698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7" name="Google Shape;187;g3a227f09822_0_0"/>
            <p:cNvCxnSpPr>
              <a:stCxn id="153" idx="7"/>
              <a:endCxn id="150" idx="5"/>
            </p:cNvCxnSpPr>
            <p:nvPr/>
          </p:nvCxnSpPr>
          <p:spPr>
            <a:xfrm rot="10800000">
              <a:off x="3349617" y="2274521"/>
              <a:ext cx="42300" cy="169800"/>
            </a:xfrm>
            <a:prstGeom prst="straightConnector1">
              <a:avLst/>
            </a:prstGeom>
            <a:noFill/>
            <a:ln cap="flat" cmpd="sng" w="16950">
              <a:solidFill>
                <a:srgbClr val="00609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8" name="Google Shape;188;g3a227f09822_0_0"/>
            <p:cNvCxnSpPr>
              <a:stCxn id="123" idx="5"/>
              <a:endCxn id="129" idx="7"/>
            </p:cNvCxnSpPr>
            <p:nvPr/>
          </p:nvCxnSpPr>
          <p:spPr>
            <a:xfrm>
              <a:off x="2374954" y="2006129"/>
              <a:ext cx="153900" cy="1741800"/>
            </a:xfrm>
            <a:prstGeom prst="straightConnector1">
              <a:avLst/>
            </a:prstGeom>
            <a:noFill/>
            <a:ln cap="flat" cmpd="sng" w="16950">
              <a:solidFill>
                <a:srgbClr val="FF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89" name="Google Shape;189;g3a227f09822_0_0"/>
            <p:cNvSpPr txBox="1"/>
            <p:nvPr/>
          </p:nvSpPr>
          <p:spPr>
            <a:xfrm>
              <a:off x="1035971" y="1514125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g3a227f09822_0_0"/>
            <p:cNvSpPr txBox="1"/>
            <p:nvPr/>
          </p:nvSpPr>
          <p:spPr>
            <a:xfrm>
              <a:off x="2558458" y="1388450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g3a227f09822_0_0"/>
            <p:cNvSpPr txBox="1"/>
            <p:nvPr/>
          </p:nvSpPr>
          <p:spPr>
            <a:xfrm>
              <a:off x="3729158" y="1292963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g3a227f09822_0_0"/>
            <p:cNvSpPr txBox="1"/>
            <p:nvPr/>
          </p:nvSpPr>
          <p:spPr>
            <a:xfrm>
              <a:off x="4996171" y="1180550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g3a227f09822_0_0"/>
            <p:cNvSpPr txBox="1"/>
            <p:nvPr/>
          </p:nvSpPr>
          <p:spPr>
            <a:xfrm>
              <a:off x="5820771" y="1640900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g3a227f09822_0_0"/>
            <p:cNvSpPr txBox="1"/>
            <p:nvPr/>
          </p:nvSpPr>
          <p:spPr>
            <a:xfrm>
              <a:off x="5957496" y="2615388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g3a227f09822_0_0"/>
            <p:cNvSpPr txBox="1"/>
            <p:nvPr/>
          </p:nvSpPr>
          <p:spPr>
            <a:xfrm>
              <a:off x="3993258" y="3809600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g3a227f09822_0_0"/>
            <p:cNvSpPr txBox="1"/>
            <p:nvPr/>
          </p:nvSpPr>
          <p:spPr>
            <a:xfrm>
              <a:off x="1364796" y="3937850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a227f09822_0_0"/>
            <p:cNvSpPr txBox="1"/>
            <p:nvPr/>
          </p:nvSpPr>
          <p:spPr>
            <a:xfrm>
              <a:off x="1953321" y="2646213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g3a227f09822_0_0"/>
            <p:cNvSpPr txBox="1"/>
            <p:nvPr/>
          </p:nvSpPr>
          <p:spPr>
            <a:xfrm>
              <a:off x="-4" y="2834775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g3a227f09822_0_0"/>
            <p:cNvSpPr txBox="1"/>
            <p:nvPr/>
          </p:nvSpPr>
          <p:spPr>
            <a:xfrm>
              <a:off x="3842146" y="2197438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g3a227f09822_0_0"/>
            <p:cNvSpPr txBox="1"/>
            <p:nvPr/>
          </p:nvSpPr>
          <p:spPr>
            <a:xfrm>
              <a:off x="3383071" y="2084775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g3a227f09822_0_0"/>
            <p:cNvSpPr txBox="1"/>
            <p:nvPr/>
          </p:nvSpPr>
          <p:spPr>
            <a:xfrm>
              <a:off x="3308146" y="1769075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g3a227f09822_0_0"/>
            <p:cNvSpPr txBox="1"/>
            <p:nvPr/>
          </p:nvSpPr>
          <p:spPr>
            <a:xfrm>
              <a:off x="4268046" y="1680350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g3a227f09822_0_0"/>
            <p:cNvSpPr txBox="1"/>
            <p:nvPr/>
          </p:nvSpPr>
          <p:spPr>
            <a:xfrm>
              <a:off x="4370271" y="2005150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g3a227f09822_0_0"/>
            <p:cNvSpPr txBox="1"/>
            <p:nvPr/>
          </p:nvSpPr>
          <p:spPr>
            <a:xfrm>
              <a:off x="1111021" y="2005150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g3a227f09822_0_0"/>
            <p:cNvSpPr txBox="1"/>
            <p:nvPr/>
          </p:nvSpPr>
          <p:spPr>
            <a:xfrm>
              <a:off x="472821" y="2812988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g3a227f09822_0_0"/>
            <p:cNvSpPr txBox="1"/>
            <p:nvPr/>
          </p:nvSpPr>
          <p:spPr>
            <a:xfrm>
              <a:off x="1306796" y="3534100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g3a227f09822_0_0"/>
            <p:cNvSpPr txBox="1"/>
            <p:nvPr/>
          </p:nvSpPr>
          <p:spPr>
            <a:xfrm>
              <a:off x="2414271" y="2626550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g3a227f09822_0_0"/>
            <p:cNvSpPr txBox="1"/>
            <p:nvPr/>
          </p:nvSpPr>
          <p:spPr>
            <a:xfrm>
              <a:off x="3939471" y="3278925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g3a227f09822_0_0"/>
            <p:cNvSpPr txBox="1"/>
            <p:nvPr/>
          </p:nvSpPr>
          <p:spPr>
            <a:xfrm>
              <a:off x="5443521" y="2590050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g3a227f09822_0_0"/>
            <p:cNvSpPr txBox="1"/>
            <p:nvPr/>
          </p:nvSpPr>
          <p:spPr>
            <a:xfrm>
              <a:off x="5432396" y="1685525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g3a227f09822_0_0"/>
            <p:cNvSpPr txBox="1"/>
            <p:nvPr/>
          </p:nvSpPr>
          <p:spPr>
            <a:xfrm>
              <a:off x="5028296" y="1589300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g3a227f09822_0_0"/>
            <p:cNvSpPr txBox="1"/>
            <p:nvPr/>
          </p:nvSpPr>
          <p:spPr>
            <a:xfrm>
              <a:off x="4850221" y="1974025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g3a227f09822_0_0"/>
            <p:cNvSpPr txBox="1"/>
            <p:nvPr/>
          </p:nvSpPr>
          <p:spPr>
            <a:xfrm>
              <a:off x="4750958" y="1640863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g3a227f09822_0_0"/>
            <p:cNvSpPr txBox="1"/>
            <p:nvPr/>
          </p:nvSpPr>
          <p:spPr>
            <a:xfrm>
              <a:off x="3770558" y="1640225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g3a227f09822_0_0"/>
            <p:cNvSpPr txBox="1"/>
            <p:nvPr/>
          </p:nvSpPr>
          <p:spPr>
            <a:xfrm>
              <a:off x="3801833" y="2530338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g3a227f09822_0_0"/>
            <p:cNvSpPr txBox="1"/>
            <p:nvPr/>
          </p:nvSpPr>
          <p:spPr>
            <a:xfrm>
              <a:off x="2515271" y="1809338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g3a227f09822_0_0"/>
            <p:cNvSpPr txBox="1"/>
            <p:nvPr/>
          </p:nvSpPr>
          <p:spPr>
            <a:xfrm>
              <a:off x="2870396" y="1769075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a227f09822_0_0"/>
            <p:cNvSpPr txBox="1"/>
            <p:nvPr/>
          </p:nvSpPr>
          <p:spPr>
            <a:xfrm>
              <a:off x="2886046" y="2148675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g3a227f09822_0_0"/>
            <p:cNvSpPr txBox="1"/>
            <p:nvPr/>
          </p:nvSpPr>
          <p:spPr>
            <a:xfrm>
              <a:off x="3768396" y="1973125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0" name="Google Shape;220;g3a227f09822_0_0"/>
            <p:cNvCxnSpPr>
              <a:endCxn id="203" idx="0"/>
            </p:cNvCxnSpPr>
            <p:nvPr/>
          </p:nvCxnSpPr>
          <p:spPr>
            <a:xfrm flipH="1" rot="10800000">
              <a:off x="3363021" y="2005150"/>
              <a:ext cx="1191600" cy="114900"/>
            </a:xfrm>
            <a:prstGeom prst="straightConnector1">
              <a:avLst/>
            </a:prstGeom>
            <a:noFill/>
            <a:ln cap="flat" cmpd="sng" w="16950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221" name="Google Shape;221;g3a227f09822_0_0"/>
            <p:cNvSpPr txBox="1"/>
            <p:nvPr/>
          </p:nvSpPr>
          <p:spPr>
            <a:xfrm>
              <a:off x="3577046" y="1814913"/>
              <a:ext cx="36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75" lIns="81275" spcFirstLastPara="1" rIns="81275" wrap="square" tIns="81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6096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6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g3a227f09822_0_0"/>
          <p:cNvSpPr txBox="1"/>
          <p:nvPr/>
        </p:nvSpPr>
        <p:spPr>
          <a:xfrm>
            <a:off x="5837275" y="729738"/>
            <a:ext cx="1517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Horizontal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ABC-&gt;0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CBA-&gt;0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BCD-&gt;0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DCB-&gt;0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CDI-&gt;0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IDC-&gt;0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MLK-&gt;1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KLM-&gt;1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a227f09822_0_0"/>
          <p:cNvSpPr txBox="1"/>
          <p:nvPr/>
        </p:nvSpPr>
        <p:spPr>
          <a:xfrm>
            <a:off x="6854825" y="370675"/>
            <a:ext cx="15177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Turns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BAM-&gt;3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MAB-&gt;2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AML-&gt;3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LMA-&gt;2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ABL-&gt;2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LBA-&gt;3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LBC-&gt;2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CBL-&gt;2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MLB-&gt;3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BLM-&gt;2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LKJ-&gt;3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JKL-&gt;2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JID-&gt;3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DIJ-&gt;2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BCH-&gt;2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HCB-&gt;3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CHE-&gt;3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EHC-&gt;2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HGF-&gt;2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FGH-&gt;2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IDE-&gt;3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a227f09822_0_0"/>
          <p:cNvSpPr txBox="1"/>
          <p:nvPr/>
        </p:nvSpPr>
        <p:spPr>
          <a:xfrm>
            <a:off x="5837275" y="2833288"/>
            <a:ext cx="1517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Vertical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CHG-&gt;2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GHC-&gt;2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DEA-&gt;2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AED-&gt;2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IJK-&gt;0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a227f09822_0_0"/>
          <p:cNvSpPr txBox="1"/>
          <p:nvPr/>
        </p:nvSpPr>
        <p:spPr>
          <a:xfrm>
            <a:off x="7946475" y="437750"/>
            <a:ext cx="1517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Turns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EDI-&gt;2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DEH-&gt;2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HED-&gt;3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EFG-&gt;2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GFE-&gt;2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EHG-&gt;3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GHE-&gt;2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CDE-&gt;1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EDC-&gt;2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2014-12-16T17:00:44Z</dcterms:created>
  <dc:creator>Gail Armstrong</dc:creator>
</cp:coreProperties>
</file>